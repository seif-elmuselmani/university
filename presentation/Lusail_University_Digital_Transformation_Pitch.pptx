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5029200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BE9C79"/>
                </a:solidFill>
              </a:defRPr>
            </a:pPr>
            <a:r>
              <a:t>المقترح الاستراتيجي المعتمد للتطوير المؤسسي | جامعة لوسيل</a:t>
            </a:r>
          </a:p>
          <a:p>
            <a:pPr algn="r">
              <a:defRPr sz="2800" b="1">
                <a:solidFill>
                  <a:srgbClr val="FFFFFF"/>
                </a:solidFill>
              </a:defRPr>
            </a:pPr>
            <a:r>
              <a:t>منظومة تشغيل جامعة لوسيل الأكاديمية الموحدة</a:t>
            </a:r>
          </a:p>
          <a:p>
            <a:pPr algn="r">
              <a:defRPr sz="1400">
                <a:solidFill>
                  <a:srgbClr val="F5EEE3"/>
                </a:solidFill>
              </a:defRPr>
            </a:pPr>
            <a:r>
              <a:t>Lusail University OS (2026/2027) - Executive Showcase</a:t>
            </a:r>
          </a:p>
          <a:p>
            <a:br/>
            <a:pPr algn="r">
              <a:defRPr sz="1100">
                <a:solidFill>
                  <a:srgbClr val="E2E8F0"/>
                </a:solidFill>
              </a:defRPr>
            </a:pPr>
            <a:r>
              <a:t>بوابة أكاديمية سيادية موحدة تضم 21 صفحة تخصصية جاهزة للعمل، تدعم الكليات الـ 4 والبرامج الـ 17 المعتمدة، وأتمتة 16 خدمة ذاتية بالـ QR Code، مع لوحة تحكم المسجل العام (Desk OS) ومحرك احتساب المعدل 4.00.</a:t>
            </a:r>
          </a:p>
          <a:p>
            <a:br/>
            <a:pPr algn="r">
              <a:defRPr sz="1000" b="1">
                <a:solidFill>
                  <a:srgbClr val="BE9C79"/>
                </a:solidFill>
              </a:defRPr>
            </a:pPr>
            <a:r>
              <a:t>مجلس الأمناء: سعادة د. علي بن فطيس المري | رئيس الجامعة: أ.د. نظام هندي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914400"/>
            <a:ext cx="43891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0" y="914400"/>
            <a:ext cx="43891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78040" y="10241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33488" y="10241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88936" y="10241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969264"/>
            <a:ext cx="35661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</a:t>
            </a:r>
          </a:p>
        </p:txBody>
      </p:sp>
      <p:pic>
        <p:nvPicPr>
          <p:cNvPr id="11" name="Picture 10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1271016"/>
            <a:ext cx="4315968" cy="441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0" y="5687568"/>
            <a:ext cx="43891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الواجهة الرئيسية الحية لمنظومة جامعة لوسيل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الهيكل التشغيلي الشامل للمنظومة 2026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لوحة النظرة العامة الاستراتيجية: الركائز الـ 4 لمنظومة لوسيل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5146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1. البوابة الرسمية الموحدة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21 صفحة تخصصية متصلة بهوية واحدة متكاملة دون روابط مكسورة، مع قائمة ملاحة ذكية.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5146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A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49AA76"/>
                </a:solidFill>
                <a:latin typeface="Segoe UI"/>
              </a:defRPr>
            </a:pPr>
            <a:r>
              <a:t>2. الكليات والبرامج الـ 17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تغطية شاملة لـ 4 كليات أكاديمية مع مرافق تطبيقية متطورة كالعيادة القانونية ومختبر SOC.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5146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9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BE9C79"/>
                </a:solidFill>
                <a:latin typeface="Segoe UI"/>
              </a:defRPr>
            </a:pPr>
            <a:r>
              <a:t>3. الخدمات الـ 16 بالـ QR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أتمتة كاملة لإصدار الإفادات، السجلات، وتأجيل الفصول بالختم الرقمي والتحقق الفوري.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25146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1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5F1259"/>
                </a:solidFill>
                <a:latin typeface="Segoe UI"/>
              </a:defRPr>
            </a:pPr>
            <a:r>
              <a:t>4. لوحة المسجل Desk OS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نظام تشغيل مركزي لإدارة القيود الأكاديمية (Holds)، ورصد الدرجات، ومحرك الـ GPA 4.00.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572000"/>
            <a:ext cx="2514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2600">
                <a:solidFill>
                  <a:srgbClr val="004876"/>
                </a:solidFill>
              </a:defRPr>
            </a:pPr>
            <a:r>
              <a:t>21</a:t>
            </a:r>
          </a:p>
          <a:p>
            <a:pPr algn="ctr">
              <a:defRPr b="1" sz="1050">
                <a:solidFill>
                  <a:srgbClr val="0F172A"/>
                </a:solidFill>
              </a:defRPr>
            </a:pPr>
            <a:r>
              <a:t>صفحة تخصصية موحدة</a:t>
            </a:r>
          </a:p>
          <a:p>
            <a:pPr algn="ctr">
              <a:defRPr sz="850">
                <a:solidFill>
                  <a:srgbClr val="BE9C79"/>
                </a:solidFill>
              </a:defRPr>
            </a:pPr>
            <a:r>
              <a:t>جاهزة للعمل فوراً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572000"/>
            <a:ext cx="2514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A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2600">
                <a:solidFill>
                  <a:srgbClr val="004876"/>
                </a:solidFill>
              </a:defRPr>
            </a:pPr>
            <a:r>
              <a:t>17</a:t>
            </a:r>
          </a:p>
          <a:p>
            <a:pPr algn="ctr">
              <a:defRPr b="1" sz="1050">
                <a:solidFill>
                  <a:srgbClr val="0F172A"/>
                </a:solidFill>
              </a:defRPr>
            </a:pPr>
            <a:r>
              <a:t>برنامجاً أكاديمياً معتمداً</a:t>
            </a:r>
          </a:p>
          <a:p>
            <a:pPr algn="ctr">
              <a:defRPr sz="850">
                <a:solidFill>
                  <a:srgbClr val="BE9C79"/>
                </a:solidFill>
              </a:defRPr>
            </a:pPr>
            <a:r>
              <a:t>بكالوريوس وماجستير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572000"/>
            <a:ext cx="2514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9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2600">
                <a:solidFill>
                  <a:srgbClr val="004876"/>
                </a:solidFill>
              </a:defRPr>
            </a:pPr>
            <a:r>
              <a:t>16</a:t>
            </a:r>
          </a:p>
          <a:p>
            <a:pPr algn="ctr">
              <a:defRPr b="1" sz="1050">
                <a:solidFill>
                  <a:srgbClr val="0F172A"/>
                </a:solidFill>
              </a:defRPr>
            </a:pPr>
            <a:r>
              <a:t>خدمة ذاتية بالـ QR</a:t>
            </a:r>
          </a:p>
          <a:p>
            <a:pPr algn="ctr">
              <a:defRPr sz="850">
                <a:solidFill>
                  <a:srgbClr val="BE9C79"/>
                </a:solidFill>
              </a:defRPr>
            </a:pPr>
            <a:r>
              <a:t>إصدار وتوثيق فوري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2514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2600">
                <a:solidFill>
                  <a:srgbClr val="004876"/>
                </a:solidFill>
              </a:defRPr>
            </a:pPr>
            <a:r>
              <a:t>30s</a:t>
            </a:r>
          </a:p>
          <a:p>
            <a:pPr algn="ctr">
              <a:defRPr b="1" sz="1050">
                <a:solidFill>
                  <a:srgbClr val="0F172A"/>
                </a:solidFill>
              </a:defRPr>
            </a:pPr>
            <a:r>
              <a:t>زمن إنجاز المعاملة</a:t>
            </a:r>
          </a:p>
          <a:p>
            <a:pPr algn="ctr">
              <a:defRPr sz="850">
                <a:solidFill>
                  <a:srgbClr val="BE9C79"/>
                </a:solidFill>
              </a:defRPr>
            </a:pPr>
            <a:r>
              <a:t>أتمتة شاملة 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استعراض الواجهة الرئيسية الحية للموقع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البوابة الرسمية الموحدة: تجربة رقمية ترتقي بمكانة جامعة لوسيل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217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53949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https://lu.edu.qa/index.html</a:t>
            </a:r>
          </a:p>
        </p:txBody>
      </p:sp>
      <p:pic>
        <p:nvPicPr>
          <p:cNvPr id="14" name="Picture 13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614476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62179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بوابة جامعة لوسيل الموحدة - تصميم رسمي فاخر بهوية الكحلي والذهبي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ركائز التجربة الرقمية في المنظومة الجديدة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بنية تحتية متطورة تخدم الزوار والطلبة والإدارة الأكاديمية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F172A"/>
                </a:solidFill>
              </a:defRPr>
            </a:pPr>
            <a:r>
              <a:t>• هوية بصرية موحدة بنسبة 100%: الكحلي الملكي (#004876) والذهبي (#be9c79) على كافة الصفحات.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تكامل شامل لـ 21 صفحة: لا صفحات ميتة، لا روابط وهمية، وانتقال سلس ومباشر.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قائمة ملاحة ذكية (Mega-Menu): تتيح الوصول لأي كلية أو برنامج أو خدمة بضغطة واحدة.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توافق كامل مع كافة الشاشات والأجهزة اللوحية والهواتف الذكية (Responsive Design).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محرك بحث فوري: يتيح البحث المباشر في البرامج والخدمات واللوائح والتقويم الأكاديمي.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البرامج الأكاديمية والخطط الدراسية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دليل الكليات الأكاديمية الـ 4 والبرامج الـ 17 المعتمدة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217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53949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https://lu.edu.qa/colleges.html</a:t>
            </a:r>
          </a:p>
        </p:txBody>
      </p:sp>
      <p:pic>
        <p:nvPicPr>
          <p:cNvPr id="14" name="Picture 13" descr="screen_colle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614476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62179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دليل الكليات والبرامج - استعراض تفاعلي للخطط الدراسية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420624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1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1150">
                <a:solidFill>
                  <a:srgbClr val="5F1259"/>
                </a:solidFill>
              </a:defRPr>
            </a:pPr>
            <a:r>
              <a:t>كلية تكنولوجيا المعلومات</a:t>
            </a:r>
          </a:p>
          <a:p>
            <a:pPr algn="r">
              <a:defRPr sz="950">
                <a:solidFill>
                  <a:srgbClr val="475569"/>
                </a:solidFill>
              </a:defRPr>
            </a:pPr>
            <a:r>
              <a:t>الذكاء الاصطناعي، الأمن السيبراني، علوم البيانات، تقنية المعلومات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542032"/>
            <a:ext cx="420624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A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1150">
                <a:solidFill>
                  <a:srgbClr val="49AA76"/>
                </a:solidFill>
              </a:defRPr>
            </a:pPr>
            <a:r>
              <a:t>كلية القانون</a:t>
            </a:r>
          </a:p>
          <a:p>
            <a:pPr algn="r">
              <a:defRPr sz="950">
                <a:solidFill>
                  <a:srgbClr val="475569"/>
                </a:solidFill>
              </a:defRPr>
            </a:pPr>
            <a:r>
              <a:t>القانون العام، القانون الخاص، الدراسات المقارنة، وماجستير القانون الدولي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12464"/>
            <a:ext cx="420624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6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1150">
                <a:solidFill>
                  <a:srgbClr val="962D3F"/>
                </a:solidFill>
              </a:defRPr>
            </a:pPr>
            <a:r>
              <a:t>كلية التجارة والأعمال</a:t>
            </a:r>
          </a:p>
          <a:p>
            <a:pPr algn="r">
              <a:defRPr sz="950">
                <a:solidFill>
                  <a:srgbClr val="475569"/>
                </a:solidFill>
              </a:defRPr>
            </a:pPr>
            <a:r>
              <a:t>إدارة الأعمال، المحاسبة والمالية، التسويق الرقمي، سلاسل الإمداد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882896"/>
            <a:ext cx="420624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3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1150">
                <a:solidFill>
                  <a:srgbClr val="003B4D"/>
                </a:solidFill>
              </a:defRPr>
            </a:pPr>
            <a:r>
              <a:t>كلية التربية والآداب</a:t>
            </a:r>
          </a:p>
          <a:p>
            <a:pPr algn="r">
              <a:defRPr sz="950">
                <a:solidFill>
                  <a:srgbClr val="475569"/>
                </a:solidFill>
              </a:defRPr>
            </a:pPr>
            <a:r>
              <a:t>تدريس اللغة الإنجليزية، اللغة العربية والإعلام، العلوم التربوية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نماذج حية من صفحات الكليات التخصصية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تخصيص كامل لصفحات الكليات والمرافق التطبيقية الذكية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429768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https://lu.edu.qa/college-it.html</a:t>
            </a:r>
          </a:p>
        </p:txBody>
      </p:sp>
      <p:pic>
        <p:nvPicPr>
          <p:cNvPr id="14" name="Picture 13" descr="screen_college_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5047488" cy="33192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047488"/>
            <a:ext cx="51206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كلية تكنولوجيا المعلومات (مسار AI والأمن السيبراني)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0196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741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1426464"/>
            <a:ext cx="429768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https://lu.edu.qa/college-law.html</a:t>
            </a:r>
          </a:p>
        </p:txBody>
      </p:sp>
      <p:pic>
        <p:nvPicPr>
          <p:cNvPr id="22" name="Picture 21" descr="screen_college_l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728216"/>
            <a:ext cx="5047488" cy="33192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09360" y="5047488"/>
            <a:ext cx="51206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كلية القانون (المحكمة الصورية والعيادة القانونية)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مرافق تطبيقية حديثة ومختبرات معتمدة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مختبر العمليات السيبرانية SOC، المحكمة الصورية المطابقة للمحاكم القطرية، غرفة التداول المالي FinTech Lab، واستوديو التدريس المصغر.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رحلة المستخدم (1/4) | استقطاب وقبول الطلبة الجدد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رحلة الطالب المتقدم: شروط القبول وحاسبة الرسوم التفاعلية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669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484632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https://lu.edu.qa/tuition-fees.html</a:t>
            </a:r>
          </a:p>
        </p:txBody>
      </p:sp>
      <p:pic>
        <p:nvPicPr>
          <p:cNvPr id="14" name="Picture 13" descr="screen_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559612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566928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حاسبة الرسوم التفاعلية وشروط منح التفوق الأكاديمي (50% و 100%)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37160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خطوات الالتحاق المبسطة بالجامعة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تجربة تقديم رقمية متكاملة وسهلة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F172A"/>
                </a:solidFill>
              </a:defRPr>
            </a:pPr>
            <a:r>
              <a:t>1. الاطلاع على شروط القبول: متطلبات الثانوية القطرية (65%/70%) والبريطانية IGCSE واختبارات اللغة.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2. حاسبة الرسوم الفورية: احتساب تكلفة الساعات بحسب الكلية وتطبيق منح التفوق الأكاديمي تلقائياً.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3. استمارة التقديم الرقمية: نموذج تقديم في 4 خطوات مع رفع البطاقة الشخصية والشهادات.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4. مراجعة الطلب والإشعار: تدقيق آلي للمستندات وتوليد إشعار القبول والرقم الجامعي المؤقت.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5. خيارات السداد المعتمدة: التوجيه لوسائل السداد الرسمية المعتمدة بالحرم الجامعي.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رحلة المستخدم (2/4) | الخدمات الأكاديمية اليومية للطالب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بوابة الطالب الذاتية: الجدول، كشف الحضور، والمعدل التراكمي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217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53949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https://lu.edu.qa/student-portal.html</a:t>
            </a:r>
          </a:p>
        </p:txBody>
      </p:sp>
      <p:pic>
        <p:nvPicPr>
          <p:cNvPr id="14" name="Picture 13" descr="screen_student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614476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62179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بوابة الطالب الذاتية الحية - متابعة الجدول والغياب والدرجات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مكونات البوابة الذاتية للطالب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إدارة أكاديمية كاملة من شاشة واحدة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F172A"/>
                </a:solidFill>
              </a:defRPr>
            </a:pPr>
            <a:r>
              <a:t>• الجدول الدراسي التفاعلي: مواعيد المحاضرات، أسماء الأساتذة، والقاعات الذكية.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كشف الحضور والغياب اللحظي: متابعة نسب الحضور مع تنبيه تلقائي عند تجاوز 10% غياب.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السجل الأكاديمي والـ GPA: استعراض الدرجات والمعدل الفصلي والتراكمي بدقة 4.00.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البطاقة الجامعية الرقمية: هوية الطالب الرقمية واستعراض الوضع الأكاديمي.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متابعة الطلبات: استعراض حالة الطلبات المقدمة (قيد المراجعة / معتمدة).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أتمتة المعاملات والتوثيق الرقمي المباشر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منظومة الـ 16 خدمة ذاتية فورية بالختم والـ QR المعتمد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217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53949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https://lu.edu.qa/services.html</a:t>
            </a:r>
          </a:p>
        </p:txBody>
      </p:sp>
      <p:pic>
        <p:nvPicPr>
          <p:cNvPr id="14" name="Picture 13" descr="screen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614476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62179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منظومة الخدمات الإلكترونية الحية - استخراج فوري للوثائق بالـ QR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قائمة الخدمات الأكاديمية المؤتمتة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وثائق معتمدة جاهزة للتحميل والطباعة فوراً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>
                <a:solidFill>
                  <a:srgbClr val="0F172A"/>
                </a:solidFill>
              </a:defRPr>
            </a:pPr>
            <a:r>
              <a:t>1. إفادة قيد رسمي معتمد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2. كشف درجات وسجل أكاديمي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3. طلب تأجيل الفصل الدراسي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4. طلب إعادة رصد وتدقيق الدرجة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5. طلب تغيير التخصص الأكاديمي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6. طلب معادلة مساقات سابقة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7. حجز قاعات بحث المكتبة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8. إفادة حسن سيرة وسلوك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9. خطابات رسمية للسفارات والجهات</a:t>
            </a:r>
          </a:p>
          <a:p>
            <a:pPr algn="r">
              <a:defRPr sz="950">
                <a:solidFill>
                  <a:srgbClr val="0F172A"/>
                </a:solidFill>
              </a:defRPr>
            </a:pPr>
            <a:r>
              <a:t>10. طلب إخلاء طرف للتخرج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رحلة المستخدم (3/4) | الرقابة والتشغيل الأكاديمي المركزي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لوحة تحكم المسجل العام (Desk OS): إدارة العمليات والقيود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217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53949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https://lu.edu.qa/desk.html</a:t>
            </a:r>
          </a:p>
        </p:txBody>
      </p:sp>
      <p:pic>
        <p:nvPicPr>
          <p:cNvPr id="14" name="Picture 13" descr="screen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614476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62179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لوحة تحكم المسجل العام Desk OS - رصد الدرجات والقيود الأكاديمية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إمكانيات نظام التشغيل الإداري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أدوات تحكم قوية للمسجل العام والعمداء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F172A"/>
                </a:solidFill>
              </a:defRPr>
            </a:pPr>
            <a:r>
              <a:t>• إدارة القيود (Holds Management): تطبيق ورفع القيود الأكاديمية والإدارية فورياً.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محرك احتساب المعدل GPA 4.00: تطبيق قواعد إعادة المقرر واحتساب مراتب الشرف.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كشوف الحرمان من الاختبارات: حصر آلي للطلبة المتجاوزين لنسب الغياب المقررة.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تدقيق شروط التخرج: فحص استيفاء الساعات الإجبارية والاختيارية (120-132 ساعة).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سجل تدقيق العمليات (Audit Trail): تسجيل آمن لكل تغيير في درجات أو حالات الطلبة.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البيئة الجامعية المتكاملة في مدينة لوسيل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الحياة الجامعية والمرافق: الأندية، المكتبة، والأنشطة الرياضية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10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217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53949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https://lu.edu.qa/campus-life.html</a:t>
            </a:r>
          </a:p>
        </p:txBody>
      </p:sp>
      <p:pic>
        <p:nvPicPr>
          <p:cNvPr id="14" name="Picture 13" descr="screen_campus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614476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62179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صفحة الحياة الجامعية الحية - الأندية والمكتبة والأنشطة الطلابية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أبرز عناصر الحياة الجامعية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بيئة تعليمية ملهمة ومتوازنة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F172A"/>
                </a:solidFill>
              </a:defRPr>
            </a:pPr>
            <a:r>
              <a:t>• 12 نادياً طلابياً نشطاً: تشمل نادي المناظرات، نادي الذكاء الاصطناعي، والعيادة القانونية.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مكتبة لوسيل المركزية: فهرس رقمي متطور، قواعد بيانات عالمية، وحجز قاعات البحث.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الأنشطة الرياضية المعتمدة: دوري الجامعات القطرية، بطولات كرة القدم، وبطولات البادل.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شراكات اللياقة البدنية: خصومات وعضويات خاصة في أندية رياضية كبرى (Strive &amp; Perf Up).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مركز التطوير المهني: فرص التدريب الميداني والملتقيات المهنية السنوية.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رحلة المستخدم (4/4) | التوافق مع رؤية قطر 2030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القيادة المؤسسية والرؤية الأكاديمية: مجلس الأمناء ورئاسة الجامعة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217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8132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4813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14813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426464"/>
            <a:ext cx="5394960" cy="2103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475569"/>
                </a:solidFill>
              </a:defRPr>
            </a:pPr>
            <a:r>
              <a:t>🔒 https://lu.edu.qa/about.html</a:t>
            </a:r>
          </a:p>
        </p:txBody>
      </p:sp>
      <p:pic>
        <p:nvPicPr>
          <p:cNvPr id="14" name="Picture 13" descr="screen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6144768" cy="414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5870448"/>
            <a:ext cx="621792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004876"/>
                </a:solidFill>
              </a:defRPr>
            </a:pPr>
            <a:r>
              <a:t>صفحة عن الجامعة الحية - مجلس الأمناء وكلمة الرئاسة والشركاء الدوليين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الركائز الاستراتيجية لجامعة لوسيل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صرح أكاديمي رائد في دولة قطر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F172A"/>
                </a:solidFill>
              </a:defRPr>
            </a:pPr>
            <a:r>
              <a:t>• مجلس الأمناء: برئاسة سعادة الدكتور علي بن فطيس المري وقيادات وطنية بارزة.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رئاسة الجامعة: بإشراف الأستاذ الدكتور نظام هندي لتحقيق أعلى معايير الجودة.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الشراكات الدولية: تعاون أكاديمي مع جامعة السوربون، جامعة ساسكس، ومعهد UNITAR.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البحث العلمي المحكم: إصدار مجلة لوسيل المحكمة وصندوق دعم البحوث والابتكار.</a:t>
            </a:r>
          </a:p>
          <a:p>
            <a:pPr algn="r">
              <a:defRPr sz="1000">
                <a:solidFill>
                  <a:srgbClr val="0F172A"/>
                </a:solidFill>
              </a:defRPr>
            </a:pPr>
            <a:r>
              <a:t>• موقع استراتيجي: في قلب مدينة لوسيل الذكية لخدمة التنمية الوطنية المستدامة.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الهيكل البرمجي والتشغيلي المعتمد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المعمارية التقنية الواقعية: استقرار عالي وأمان سيادي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r">
              <a:defRPr b="1" sz="1200">
                <a:solidFill>
                  <a:srgbClr val="004876"/>
                </a:solidFill>
              </a:defRPr>
            </a:pPr>
            <a:r>
              <a:t>1. واجهات المستخدم الذكية (Frontend Portal)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بوابة الطالب، بوابة المسجل العام (Desk OS)، صفحات الكليات والقبول (HTML5 / Modern JS / Tailwind / Fully Responsive).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r">
              <a:defRPr b="1" sz="1200">
                <a:solidFill>
                  <a:srgbClr val="004876"/>
                </a:solidFill>
              </a:defRPr>
            </a:pPr>
            <a:r>
              <a:t>2. محرك الخدمات والأختام الرقمية (Verification Engine)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توليد فوري للوثائق الأكاديمية بصيغ رسمية مع كود QR مشفر للتحقق الفوري من صحة الوثيقة دون الحاجة لتدخل بشري.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r">
              <a:defRPr b="1" sz="1200">
                <a:solidFill>
                  <a:srgbClr val="004876"/>
                </a:solidFill>
              </a:defRPr>
            </a:pPr>
            <a:r>
              <a:t>3. محرك القواعد الأكاديمية (Academic Rules &amp; GPA Engine)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احتساب المعدل التراكمي بدقة 4.00، معالجة الساعات المعتمدة، وإنفاذ قيود الحرمان والإنذارات الأكاديمية آلياً.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r">
              <a:defRPr b="1" sz="1200">
                <a:solidFill>
                  <a:srgbClr val="004876"/>
                </a:solidFill>
              </a:defRPr>
            </a:pPr>
            <a:r>
              <a:t>4. طبقة حماية البيانات والتكامل (Security &amp; Local Storage)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استضافة سحابية محلية آمنة، إدارة صلاحيات الوصول المبنية على الأدوار (RBAC)، والامتثال التام للائحة PDPPL القطرية.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109728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1">
                <a:solidFill>
                  <a:srgbClr val="BE9C79"/>
                </a:solidFill>
                <a:latin typeface="Segoe UI"/>
              </a:defRPr>
            </a:pPr>
            <a:r>
              <a:t>مؤشرات الكفاءة التشغيلية الملموسة</a:t>
            </a:r>
          </a:p>
          <a:p>
            <a:pPr algn="r">
              <a:defRPr sz="2100" b="1">
                <a:solidFill>
                  <a:srgbClr val="004876"/>
                </a:solidFill>
                <a:latin typeface="Segoe UI"/>
              </a:defRPr>
            </a:pPr>
            <a:r>
              <a:t>الأثر التشغيلي الواقعي: سرعة إنجاز، دقة، ورضا مستفيدين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جامعة لوسيل - المقترح التنفيذي الرسمي للتحول الأكاديمي الشامل 2026/2027 | وثيقة سرية لمجلس الأمناء      13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134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172A"/>
                </a:solidFill>
              </a:defRPr>
            </a:pPr>
            <a:r>
              <a:t>زمن استخراج الإفادات الرسمية</a:t>
            </a:r>
          </a:p>
          <a:p>
            <a:pPr algn="r">
              <a:defRPr b="1" sz="3400">
                <a:solidFill>
                  <a:srgbClr val="004876"/>
                </a:solidFill>
              </a:defRPr>
            </a:pPr>
            <a:r>
              <a:t>30 ثانية</a:t>
            </a:r>
          </a:p>
          <a:p>
            <a:pPr algn="r">
              <a:defRPr sz="1000">
                <a:solidFill>
                  <a:srgbClr val="BE9C79"/>
                </a:solidFill>
              </a:defRPr>
            </a:pPr>
            <a:r>
              <a:t>بدلاً من 3-4 أيام عمل سابقاً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134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172A"/>
                </a:solidFill>
              </a:defRPr>
            </a:pPr>
            <a:r>
              <a:t>دقة احتساب المعدل والغياب</a:t>
            </a:r>
          </a:p>
          <a:p>
            <a:pPr algn="r">
              <a:defRPr b="1" sz="3400">
                <a:solidFill>
                  <a:srgbClr val="004876"/>
                </a:solidFill>
              </a:defRPr>
            </a:pPr>
            <a:r>
              <a:t>100%</a:t>
            </a:r>
          </a:p>
          <a:p>
            <a:pPr algn="r">
              <a:defRPr sz="1000">
                <a:solidFill>
                  <a:srgbClr val="BE9C79"/>
                </a:solidFill>
              </a:defRPr>
            </a:pPr>
            <a:r>
              <a:t>محرك برمجي يلغي الخطأ البشري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134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172A"/>
                </a:solidFill>
              </a:defRPr>
            </a:pPr>
            <a:r>
              <a:t>جاهزية الروابط والصفحات</a:t>
            </a:r>
          </a:p>
          <a:p>
            <a:pPr algn="r">
              <a:defRPr b="1" sz="3400">
                <a:solidFill>
                  <a:srgbClr val="004876"/>
                </a:solidFill>
              </a:defRPr>
            </a:pPr>
            <a:r>
              <a:t>21 / 21</a:t>
            </a:r>
          </a:p>
          <a:p>
            <a:pPr algn="r">
              <a:defRPr sz="1000">
                <a:solidFill>
                  <a:srgbClr val="BE9C79"/>
                </a:solidFill>
              </a:defRPr>
            </a:pPr>
            <a:r>
              <a:t>صفر روابط مكسورة أو معطلة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72865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>
              <a:defRPr b="1" sz="1200">
                <a:solidFill>
                  <a:srgbClr val="004876"/>
                </a:solidFill>
                <a:latin typeface="Segoe UI"/>
              </a:defRPr>
            </a:pPr>
            <a:r>
              <a:t>مكاسب تشغيلية مباشرة لإدارة الجامعة</a:t>
            </a:r>
          </a:p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t>• توفير مئات الساعات الإدارية سنوياً لكادر القبول والتسجيل.</a:t>
            </a:r>
            <a:br/>
            <a:r>
              <a:t>• إتاحة الخدمات الأكاديمية للطلبة على مدار الساعة (24/7 Availability).</a:t>
            </a:r>
            <a:br/>
            <a:r>
              <a:t>• حماية الوثائق الرسمية للجامعة من التزوير عبر الختم الرقمي والتحقق بالـ QR.</a:t>
            </a:r>
            <a:br/>
            <a:r>
              <a:t>• واجهة عصرية تعكس المكانة الحقيقية لجامعة لوسيل كصرح أكاديمي رائد في دولة قطر.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BE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BE9C79"/>
                </a:solidFill>
              </a:defRPr>
            </a:pPr>
            <a:r>
              <a:t>الخاتمة والتوصيات التنفيذية المعروضة على إدارة الجامعة</a:t>
            </a:r>
          </a:p>
          <a:p>
            <a:pPr algn="r">
              <a:defRPr sz="2800" b="1">
                <a:solidFill>
                  <a:srgbClr val="FFFFFF"/>
                </a:solidFill>
              </a:defRPr>
            </a:pPr>
            <a:r>
              <a:t>جامعة لوسيل: منصة أكاديمية ذكية جاهزة للتشغيل الفوري</a:t>
            </a:r>
          </a:p>
          <a:p>
            <a:br/>
            <a:pPr algn="r">
              <a:defRPr sz="1250">
                <a:solidFill>
                  <a:srgbClr val="E2E8F0"/>
                </a:solidFill>
              </a:defRPr>
            </a:pPr>
            <a:r>
              <a:t>الخطوات التنفيذية المقترحة:</a:t>
            </a:r>
            <a:br/>
            <a:r>
              <a:t>1. اعتماد التصميم والهوية البصرية الموحدة وتدشين البوابة الإلكترونية رسمياً.</a:t>
            </a:r>
            <a:br/>
            <a:r>
              <a:t>2. تفعيل منظومة الخدمات الذاتية الـ 16 بالـ QR Code للطلبة للفصل الدراسي القادم.</a:t>
            </a:r>
            <a:br/>
            <a:r>
              <a:t>3. بدء استقبال طلبات الالتحاق الإلكترونية عبر صفحة القبول وحاسبة الرسوم التفاعلية.</a:t>
            </a:r>
          </a:p>
          <a:p>
            <a:br/>
            <a:pPr algn="r">
              <a:defRPr sz="1100" b="1">
                <a:solidFill>
                  <a:srgbClr val="BE9C79"/>
                </a:solidFill>
              </a:defRPr>
            </a:pPr>
            <a:r>
              <a:t>شكراً لكم | جامعة لوسيل - صرح أكاديمي رائد في مدينة لوسيل، دولة قطر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